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6F10-3D38-423D-8A72-C1177D22B25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7D55-F66B-4EDB-8AEA-4D5D5E298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44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6F10-3D38-423D-8A72-C1177D22B25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7D55-F66B-4EDB-8AEA-4D5D5E298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278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6F10-3D38-423D-8A72-C1177D22B25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7D55-F66B-4EDB-8AEA-4D5D5E298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28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6F10-3D38-423D-8A72-C1177D22B25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7D55-F66B-4EDB-8AEA-4D5D5E298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754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6F10-3D38-423D-8A72-C1177D22B25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7D55-F66B-4EDB-8AEA-4D5D5E298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1454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6F10-3D38-423D-8A72-C1177D22B25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7D55-F66B-4EDB-8AEA-4D5D5E298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1434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6F10-3D38-423D-8A72-C1177D22B25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7D55-F66B-4EDB-8AEA-4D5D5E298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517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6F10-3D38-423D-8A72-C1177D22B25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7D55-F66B-4EDB-8AEA-4D5D5E298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06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6F10-3D38-423D-8A72-C1177D22B25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7D55-F66B-4EDB-8AEA-4D5D5E298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39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6F10-3D38-423D-8A72-C1177D22B25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7D55-F66B-4EDB-8AEA-4D5D5E298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82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6F10-3D38-423D-8A72-C1177D22B25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7D55-F66B-4EDB-8AEA-4D5D5E298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2523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C6F10-3D38-423D-8A72-C1177D22B25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17D55-F66B-4EDB-8AEA-4D5D5E298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602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à coins arrondis 40"/>
          <p:cNvSpPr/>
          <p:nvPr/>
        </p:nvSpPr>
        <p:spPr>
          <a:xfrm>
            <a:off x="79513" y="119270"/>
            <a:ext cx="11298804" cy="314076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512260" y="380326"/>
            <a:ext cx="6708297" cy="270843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On commence par entraîner un modèle:</a:t>
            </a:r>
          </a:p>
          <a:p>
            <a:pPr marL="285750" indent="-285750">
              <a:buFontTx/>
              <a:buChar char="-"/>
            </a:pPr>
            <a:r>
              <a:rPr lang="fr-FR" dirty="0" smtClean="0">
                <a:solidFill>
                  <a:srgbClr val="FF0000"/>
                </a:solidFill>
              </a:rPr>
              <a:t>On prend des milliards de textes (par exemple tout le WEB !!)</a:t>
            </a:r>
          </a:p>
          <a:p>
            <a:pPr marL="285750" indent="-285750">
              <a:buFontTx/>
              <a:buChar char="-"/>
            </a:pPr>
            <a:r>
              <a:rPr lang="fr-FR" dirty="0" smtClean="0">
                <a:solidFill>
                  <a:srgbClr val="00B050"/>
                </a:solidFill>
              </a:rPr>
              <a:t>Les textes sont découpés en petits morceaux quelconques (</a:t>
            </a:r>
            <a:r>
              <a:rPr lang="fr-FR" i="1" dirty="0" smtClean="0">
                <a:solidFill>
                  <a:srgbClr val="00B050"/>
                </a:solidFill>
              </a:rPr>
              <a:t>au hasard</a:t>
            </a:r>
            <a:r>
              <a:rPr lang="fr-FR" dirty="0" smtClean="0">
                <a:solidFill>
                  <a:srgbClr val="00B050"/>
                </a:solidFill>
              </a:rPr>
              <a:t>): les syllabes, les ponctuations, les chiffres, etc.</a:t>
            </a:r>
            <a:r>
              <a:rPr lang="fr-FR" dirty="0" smtClean="0"/>
              <a:t> </a:t>
            </a:r>
          </a:p>
          <a:p>
            <a:pPr marL="285750" indent="-285750">
              <a:buFontTx/>
              <a:buChar char="-"/>
            </a:pPr>
            <a:r>
              <a:rPr lang="fr-FR" dirty="0" smtClean="0">
                <a:solidFill>
                  <a:srgbClr val="C00000"/>
                </a:solidFill>
              </a:rPr>
              <a:t>On associe à chaque morceau un code (un </a:t>
            </a:r>
            <a:r>
              <a:rPr lang="fr-FR" sz="2800" i="1" dirty="0" err="1" smtClean="0">
                <a:solidFill>
                  <a:srgbClr val="C00000"/>
                </a:solidFill>
              </a:rPr>
              <a:t>token</a:t>
            </a:r>
            <a:r>
              <a:rPr lang="fr-FR" dirty="0" smtClean="0">
                <a:solidFill>
                  <a:srgbClr val="C00000"/>
                </a:solidFill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fr-FR" dirty="0" smtClean="0">
                <a:solidFill>
                  <a:srgbClr val="00B0F0"/>
                </a:solidFill>
              </a:rPr>
              <a:t>On fabrique une gigantesque table de tous les </a:t>
            </a:r>
            <a:r>
              <a:rPr lang="fr-FR" i="1" dirty="0" err="1" smtClean="0">
                <a:solidFill>
                  <a:srgbClr val="00B0F0"/>
                </a:solidFill>
              </a:rPr>
              <a:t>tokens</a:t>
            </a:r>
            <a:r>
              <a:rPr lang="fr-FR" dirty="0" smtClean="0">
                <a:solidFill>
                  <a:srgbClr val="00B0F0"/>
                </a:solidFill>
              </a:rPr>
              <a:t> </a:t>
            </a:r>
            <a:r>
              <a:rPr lang="fr-FR" sz="2400" dirty="0" smtClean="0">
                <a:solidFill>
                  <a:srgbClr val="00B0F0"/>
                </a:solidFill>
              </a:rPr>
              <a:t>ordonnés</a:t>
            </a:r>
            <a:endParaRPr lang="fr-FR" dirty="0" smtClean="0">
              <a:solidFill>
                <a:srgbClr val="00B0F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dirty="0" smtClean="0">
                <a:solidFill>
                  <a:srgbClr val="7030A0"/>
                </a:solidFill>
              </a:rPr>
              <a:t>On calcule la probabilité d’occurrence croisée de tous les </a:t>
            </a:r>
            <a:r>
              <a:rPr lang="fr-FR" i="1" dirty="0" err="1" smtClean="0">
                <a:solidFill>
                  <a:srgbClr val="7030A0"/>
                </a:solidFill>
              </a:rPr>
              <a:t>tokens</a:t>
            </a:r>
            <a:endParaRPr lang="fr-FR" i="1" dirty="0" smtClean="0">
              <a:solidFill>
                <a:srgbClr val="7030A0"/>
              </a:solidFill>
            </a:endParaRPr>
          </a:p>
          <a:p>
            <a:pPr algn="ctr"/>
            <a:r>
              <a:rPr lang="fr-FR" sz="2400" dirty="0" smtClean="0"/>
              <a:t>Ceci donne le </a:t>
            </a:r>
            <a:r>
              <a:rPr lang="fr-FR" sz="2800" dirty="0">
                <a:solidFill>
                  <a:srgbClr val="FF0000"/>
                </a:solidFill>
              </a:rPr>
              <a:t>modèle</a:t>
            </a:r>
            <a:r>
              <a:rPr lang="fr-FR" sz="2400" dirty="0" smtClean="0"/>
              <a:t>.</a:t>
            </a:r>
            <a:endParaRPr lang="fr-FR" sz="2400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6694014" y="209972"/>
            <a:ext cx="4078386" cy="695914"/>
          </a:xfrm>
          <a:prstGeom prst="wedgeRoundRectCallout">
            <a:avLst>
              <a:gd name="adj1" fmla="val -40873"/>
              <a:gd name="adj2" fmla="val 8343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fr-FR" dirty="0" smtClean="0"/>
              <a:t>On ne cherche jamais à comprendre les mots ni les morceaux de mots !!!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4204861" y="3445237"/>
            <a:ext cx="7022821" cy="80021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dirty="0" smtClean="0">
                <a:solidFill>
                  <a:srgbClr val="00B050"/>
                </a:solidFill>
              </a:rPr>
              <a:t>Ensuite on </a:t>
            </a:r>
            <a:r>
              <a:rPr lang="fr-FR" i="1" dirty="0" smtClean="0">
                <a:solidFill>
                  <a:srgbClr val="00B050"/>
                </a:solidFill>
              </a:rPr>
              <a:t>encode</a:t>
            </a:r>
            <a:r>
              <a:rPr lang="fr-FR" dirty="0" smtClean="0">
                <a:solidFill>
                  <a:srgbClr val="00B050"/>
                </a:solidFill>
              </a:rPr>
              <a:t> (de la même façon) ce que tu veux demander au LLM:</a:t>
            </a:r>
          </a:p>
          <a:p>
            <a:pPr algn="ctr"/>
            <a:r>
              <a:rPr lang="fr-FR" sz="2400" dirty="0"/>
              <a:t>Ceci </a:t>
            </a:r>
            <a:r>
              <a:rPr lang="fr-FR" sz="2400" dirty="0" smtClean="0"/>
              <a:t>constitue le </a:t>
            </a:r>
            <a:r>
              <a:rPr lang="fr-FR" sz="2800" dirty="0" smtClean="0">
                <a:solidFill>
                  <a:srgbClr val="FF0000"/>
                </a:solidFill>
              </a:rPr>
              <a:t>prompt</a:t>
            </a:r>
            <a:endParaRPr lang="fr-FR" sz="2400" dirty="0">
              <a:solidFill>
                <a:srgbClr val="FF0000"/>
              </a:solidFill>
            </a:endParaRPr>
          </a:p>
        </p:txBody>
      </p:sp>
      <p:cxnSp>
        <p:nvCxnSpPr>
          <p:cNvPr id="11" name="Connecteur en arc 10"/>
          <p:cNvCxnSpPr>
            <a:stCxn id="3" idx="2"/>
            <a:endCxn id="5" idx="1"/>
          </p:cNvCxnSpPr>
          <p:nvPr/>
        </p:nvCxnSpPr>
        <p:spPr>
          <a:xfrm rot="16200000" flipH="1">
            <a:off x="3657342" y="3297827"/>
            <a:ext cx="756587" cy="338452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1194947" y="4825879"/>
            <a:ext cx="7426072" cy="18466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fr-FR"/>
            </a:defPPr>
            <a:lvl1pPr algn="ctr">
              <a:defRPr>
                <a:solidFill>
                  <a:srgbClr val="00B050"/>
                </a:solidFill>
              </a:defRPr>
            </a:lvl1pPr>
          </a:lstStyle>
          <a:p>
            <a:r>
              <a:rPr lang="fr-FR" dirty="0">
                <a:solidFill>
                  <a:schemeClr val="tx1"/>
                </a:solidFill>
              </a:rPr>
              <a:t>Le LLM </a:t>
            </a:r>
            <a:r>
              <a:rPr lang="fr-FR" dirty="0" smtClean="0">
                <a:solidFill>
                  <a:schemeClr val="tx1"/>
                </a:solidFill>
              </a:rPr>
              <a:t>calcule alors </a:t>
            </a:r>
            <a:r>
              <a:rPr lang="fr-FR" dirty="0">
                <a:solidFill>
                  <a:schemeClr val="tx1"/>
                </a:solidFill>
              </a:rPr>
              <a:t>: </a:t>
            </a:r>
          </a:p>
          <a:p>
            <a:pPr algn="l"/>
            <a:r>
              <a:rPr lang="fr-FR" dirty="0">
                <a:solidFill>
                  <a:srgbClr val="FF0000"/>
                </a:solidFill>
              </a:rPr>
              <a:t>- Quel est le prochain </a:t>
            </a:r>
            <a:r>
              <a:rPr lang="fr-FR" dirty="0" err="1">
                <a:solidFill>
                  <a:srgbClr val="FF0000"/>
                </a:solidFill>
              </a:rPr>
              <a:t>token</a:t>
            </a:r>
            <a:r>
              <a:rPr lang="fr-FR" dirty="0">
                <a:solidFill>
                  <a:srgbClr val="FF0000"/>
                </a:solidFill>
              </a:rPr>
              <a:t> le plus probable dans ce contexte </a:t>
            </a:r>
            <a:r>
              <a:rPr lang="fr-FR" dirty="0" smtClean="0">
                <a:solidFill>
                  <a:srgbClr val="FF0000"/>
                </a:solidFill>
              </a:rPr>
              <a:t>de ce </a:t>
            </a:r>
            <a:r>
              <a:rPr lang="fr-FR" dirty="0">
                <a:solidFill>
                  <a:srgbClr val="FF0000"/>
                </a:solidFill>
              </a:rPr>
              <a:t>prompt ?</a:t>
            </a:r>
          </a:p>
          <a:p>
            <a:pPr algn="l"/>
            <a:r>
              <a:rPr lang="fr-FR" dirty="0"/>
              <a:t>- Il choisit celui qui a la meilleure probabilité.</a:t>
            </a:r>
          </a:p>
          <a:p>
            <a:pPr algn="l"/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- Puis il </a:t>
            </a:r>
            <a:r>
              <a:rPr lang="fr-FR" dirty="0" smtClean="0">
                <a:solidFill>
                  <a:schemeClr val="accent4">
                    <a:lumMod val="75000"/>
                  </a:schemeClr>
                </a:solidFill>
              </a:rPr>
              <a:t>ajoute ce résultat au prompt et recommence</a:t>
            </a:r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… encore et encore…</a:t>
            </a:r>
          </a:p>
          <a:p>
            <a:pPr algn="l"/>
            <a:r>
              <a:rPr lang="fr-FR" dirty="0" smtClean="0"/>
              <a:t>- …. Jusqu’à </a:t>
            </a:r>
            <a:r>
              <a:rPr lang="fr-FR" dirty="0"/>
              <a:t>former une phrase complète. </a:t>
            </a:r>
            <a:endParaRPr lang="fr-FR" dirty="0" smtClean="0"/>
          </a:p>
          <a:p>
            <a:r>
              <a:rPr lang="fr-FR" sz="2400" dirty="0" smtClean="0">
                <a:solidFill>
                  <a:schemeClr val="tx1"/>
                </a:solidFill>
              </a:rPr>
              <a:t>C’est </a:t>
            </a:r>
            <a:r>
              <a:rPr lang="fr-FR" sz="2400" dirty="0">
                <a:solidFill>
                  <a:schemeClr val="tx1"/>
                </a:solidFill>
              </a:rPr>
              <a:t>tout !!</a:t>
            </a:r>
          </a:p>
        </p:txBody>
      </p:sp>
      <p:cxnSp>
        <p:nvCxnSpPr>
          <p:cNvPr id="28" name="Connecteur en arc 27"/>
          <p:cNvCxnSpPr/>
          <p:nvPr/>
        </p:nvCxnSpPr>
        <p:spPr>
          <a:xfrm rot="5400000">
            <a:off x="6136718" y="3032906"/>
            <a:ext cx="399373" cy="2808289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Rectangle à coins arrondis 36"/>
          <p:cNvSpPr/>
          <p:nvPr/>
        </p:nvSpPr>
        <p:spPr>
          <a:xfrm>
            <a:off x="8468478" y="5149057"/>
            <a:ext cx="3506186" cy="1394865"/>
          </a:xfrm>
          <a:prstGeom prst="wedgeRoundRectCallout">
            <a:avLst>
              <a:gd name="adj1" fmla="val -75330"/>
              <a:gd name="adj2" fmla="val -2493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fr-FR" dirty="0" smtClean="0"/>
              <a:t>Il n’y a jamais aucune compréhension des textes considérés, uniquement une association logique et probabiliste</a:t>
            </a:r>
          </a:p>
        </p:txBody>
      </p:sp>
      <p:sp>
        <p:nvSpPr>
          <p:cNvPr id="42" name="ZoneTexte 41"/>
          <p:cNvSpPr txBox="1"/>
          <p:nvPr/>
        </p:nvSpPr>
        <p:spPr>
          <a:xfrm>
            <a:off x="8093442" y="1191710"/>
            <a:ext cx="209865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800" dirty="0" smtClean="0">
                <a:solidFill>
                  <a:srgbClr val="FF0000"/>
                </a:solidFill>
              </a:rPr>
              <a:t>LLM</a:t>
            </a:r>
            <a:endParaRPr lang="fr-FR" sz="8800" dirty="0">
              <a:solidFill>
                <a:srgbClr val="FF0000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7493788" y="2504450"/>
            <a:ext cx="3684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>
                <a:solidFill>
                  <a:srgbClr val="00B0F0"/>
                </a:solidFill>
              </a:rPr>
              <a:t>chatGPT</a:t>
            </a:r>
            <a:r>
              <a:rPr lang="fr-FR" dirty="0" smtClean="0">
                <a:solidFill>
                  <a:srgbClr val="00B0F0"/>
                </a:solidFill>
              </a:rPr>
              <a:t>, Claude, Copilote, Le Chat, …</a:t>
            </a:r>
            <a:endParaRPr lang="fr-FR" dirty="0">
              <a:solidFill>
                <a:srgbClr val="00B0F0"/>
              </a:solidFill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140426" y="3859899"/>
            <a:ext cx="3727567" cy="623087"/>
          </a:xfrm>
          <a:prstGeom prst="wedgeRoundRectCallout">
            <a:avLst>
              <a:gd name="adj1" fmla="val 69594"/>
              <a:gd name="adj2" fmla="val 11181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/>
              <a:t>Le contexte est l’ensemble de la base d’apprentissage et du prompt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51834856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209</Words>
  <Application>Microsoft Office PowerPoint</Application>
  <PresentationFormat>Grand écran</PresentationFormat>
  <Paragraphs>20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Chris Arnault</dc:creator>
  <cp:lastModifiedBy>Chris Arnault</cp:lastModifiedBy>
  <cp:revision>10</cp:revision>
  <dcterms:created xsi:type="dcterms:W3CDTF">2026-06-23T14:22:28Z</dcterms:created>
  <dcterms:modified xsi:type="dcterms:W3CDTF">2026-06-26T06:22:01Z</dcterms:modified>
</cp:coreProperties>
</file>